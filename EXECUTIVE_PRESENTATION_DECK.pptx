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Autonomous Gemini Enterprise Swarms: Zero-Hallucination GraphRAG &amp; A3J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Evolving Enterprise AI from Stochastic 'Vibes-Based' Chat to Deterministic, State-Verifying Swarms | Google CloudScope Showcase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8BDF8"/>
                </a:solidFill>
              </a:defRPr>
            </a:pPr>
            <a:r>
              <a:t>1. The Evaluation Crisis</a:t>
            </a:r>
          </a:p>
          <a:p>
            <a:pPr>
              <a:spcAft>
                <a:spcPts val="1200"/>
              </a:spcAft>
              <a:defRPr b="1" sz="1200">
                <a:solidFill>
                  <a:srgbClr val="F8FAFC"/>
                </a:solidFill>
              </a:defRPr>
            </a:pPr>
            <a:r>
              <a:t>Why LLM-as-a-Judge Fails</a:t>
            </a:r>
          </a:p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Standard LLM evaluators suffer from Semantic Confirmation Bias: they grade solely on linguistic fluency and miss topological falsehoods.</a:t>
            </a:r>
            <a:br/>
            <a:r>
              <a:t>• Falsely validates fabricated threat links, invalid stock cross-holdings, and rejected database mutations.</a:t>
            </a:r>
            <a:br/>
            <a:r>
              <a:t>• Urgent need for 100% deterministic, state-grounded auditing.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28416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8B5CF6"/>
                </a:solidFill>
              </a:defRPr>
            </a:pPr>
            <a:r>
              <a:t>2. Multi-Domain Swarm</a:t>
            </a:r>
          </a:p>
          <a:p>
            <a:pPr>
              <a:spcAft>
                <a:spcPts val="1200"/>
              </a:spcAft>
              <a:defRPr b="1" sz="1200">
                <a:solidFill>
                  <a:srgbClr val="F8FAFC"/>
                </a:solidFill>
              </a:defRPr>
            </a:pPr>
            <a:r>
              <a:t>ADK 2.3.0 &amp; Enterprise KGs</a:t>
            </a:r>
          </a:p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Cyber Threat Intel: MITRE ATT&amp;CK STIX 2.1 (2,202 nodes, 20,565 edges in Neo4j AuraDB).</a:t>
            </a:r>
            <a:br/>
            <a:r>
              <a:t>• Indian Stock Market: NSE/BSE corporate holding trees (Tata, Reliance, HDFC, Infosys, SEBI).</a:t>
            </a:r>
            <a:br/>
            <a:r>
              <a:t>• Incredible India Tourism: Golden Triangle &amp; Karnataka circuits via IRCTC Vande Bharat.</a:t>
            </a:r>
            <a:br/>
            <a:r>
              <a:t>• Live 2D/3D PyVis Topology DAGs rendered in real-time.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28416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0B981"/>
                </a:solidFill>
              </a:defRPr>
            </a:pPr>
            <a:r>
              <a:t>3. Graph-A3J Engine</a:t>
            </a:r>
          </a:p>
          <a:p>
            <a:pPr>
              <a:spcAft>
                <a:spcPts val="1200"/>
              </a:spcAft>
              <a:defRPr b="1" sz="1200">
                <a:solidFill>
                  <a:srgbClr val="F8FAFC"/>
                </a:solidFill>
              </a:defRPr>
            </a:pPr>
            <a:r>
              <a:t>Neuro-Symbolic Algorithm 1</a:t>
            </a:r>
          </a:p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</a:defRPr>
            </a:pPr>
            <a:r>
              <a:t>• Decouples semantic claim extraction from deterministic graph-path verification.</a:t>
            </a:r>
            <a:br/>
            <a:r>
              <a:t>• Computes Topological Hallucination Divergence (THD), Step Efficiency (SE), and S_composite.</a:t>
            </a:r>
            <a:br/>
            <a:r>
              <a:t>• Active database querying at 120.50 ms query latency with automated CI/CD gating (ALLOW vs BLOCK).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Empirical Benchmark Superiority, CI/CD Gating &amp; Enterprise ROI</a:t>
            </a:r>
          </a:p>
          <a:p>
            <a:pPr>
              <a:defRPr sz="1300">
                <a:solidFill>
                  <a:srgbClr val="10B981"/>
                </a:solidFill>
              </a:defRPr>
            </a:pPr>
            <a:r>
              <a:t>Rigorous Live Verification (N = 1,000 Live Traces over Neo4j AuraDB STIX 2.1) | Production-Ready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38BDF8"/>
                </a:solidFill>
              </a:defRPr>
            </a:pPr>
            <a:r>
              <a:t>📊 Live Empirical Benchmark (N=1,000)</a:t>
            </a:r>
          </a:p>
          <a:p>
            <a:pPr>
              <a:lnSpc>
                <a:spcPct val="130000"/>
              </a:lnSpc>
              <a:defRPr sz="1100">
                <a:solidFill>
                  <a:srgbClr val="F8FAFC"/>
                </a:solidFill>
              </a:defRPr>
            </a:pPr>
            <a:r>
              <a:t>• ROC-AUC: Graph-A3J 0.9967 vs Baseline 0.7573 (+23.9%)</a:t>
            </a:r>
          </a:p>
          <a:p>
            <a:pPr>
              <a:lnSpc>
                <a:spcPct val="130000"/>
              </a:lnSpc>
              <a:defRPr sz="1100">
                <a:solidFill>
                  <a:srgbClr val="F8FAFC"/>
                </a:solidFill>
              </a:defRPr>
            </a:pPr>
            <a:r>
              <a:t>• PR-AUC: 0.9980 | F1-Score: 0.9975 | Accuracy: 99.70%</a:t>
            </a:r>
          </a:p>
          <a:p>
            <a:pPr>
              <a:lnSpc>
                <a:spcPct val="130000"/>
              </a:lnSpc>
              <a:defRPr sz="1100">
                <a:solidFill>
                  <a:srgbClr val="F8FAFC"/>
                </a:solidFill>
              </a:defRPr>
            </a:pPr>
            <a:r>
              <a:t>• False Negative Hallucinations: 0 missed (vs 351 baseline)</a:t>
            </a:r>
          </a:p>
          <a:p>
            <a:pPr>
              <a:lnSpc>
                <a:spcPct val="130000"/>
              </a:lnSpc>
              <a:defRPr sz="1100">
                <a:solidFill>
                  <a:srgbClr val="F8FAFC"/>
                </a:solidFill>
              </a:defRPr>
            </a:pPr>
            <a:r>
              <a:t>• Statistical Significance: McNemar χ²(1) = 349.00 (p &lt; 10⁻⁷⁷)</a:t>
            </a:r>
          </a:p>
          <a:p>
            <a:pPr>
              <a:lnSpc>
                <a:spcPct val="130000"/>
              </a:lnSpc>
              <a:defRPr sz="1100">
                <a:solidFill>
                  <a:srgbClr val="F8FAFC"/>
                </a:solidFill>
              </a:defRPr>
            </a:pPr>
            <a:r>
              <a:t>• Live Cypher Query Latency: 120.50 ms per query</a:t>
            </a:r>
          </a:p>
          <a:p>
            <a:pPr>
              <a:lnSpc>
                <a:spcPct val="130000"/>
              </a:lnSpc>
              <a:defRPr sz="1100">
                <a:solidFill>
                  <a:srgbClr val="F8FAFC"/>
                </a:solidFill>
              </a:defRPr>
            </a:pPr>
            <a:r>
              <a:t>• End-to-End P95 Latency: 641.18 ms (3.9x faster than LLM Judge)</a:t>
            </a:r>
          </a:p>
          <a:p>
            <a:pPr>
              <a:lnSpc>
                <a:spcPct val="130000"/>
              </a:lnSpc>
              <a:defRPr sz="1100">
                <a:solidFill>
                  <a:srgbClr val="F8FAFC"/>
                </a:solidFill>
              </a:defRPr>
            </a:pPr>
            <a:r>
              <a:t>• Amortized Total Cost: $0.00042 / trace (8.3x cheaper)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0B981"/>
                </a:solidFill>
              </a:defRPr>
            </a:pPr>
            <a:r>
              <a:t>🛡️ CI/CD Safety Gating &amp; Enterprise Impact</a:t>
            </a:r>
          </a:p>
          <a:p>
            <a:pPr>
              <a:lnSpc>
                <a:spcPct val="120000"/>
              </a:lnSpc>
              <a:defRPr sz="1050" b="1">
                <a:solidFill>
                  <a:srgbClr val="F8FAFC"/>
                </a:solidFill>
              </a:defRPr>
            </a:pPr>
            <a:r>
              <a:t>1. Automated CI/CD Deployment Gates:</a:t>
            </a:r>
          </a:p>
          <a:p>
            <a:pPr>
              <a:lnSpc>
                <a:spcPct val="120000"/>
              </a:lnSpc>
              <a:defRPr sz="1050" b="0">
                <a:solidFill>
                  <a:srgbClr val="94A3B8"/>
                </a:solidFill>
              </a:defRPr>
            </a:pPr>
            <a:r>
              <a:t>   - Blocks rogue prompts in PRs before hitting production.</a:t>
            </a:r>
          </a:p>
          <a:p>
            <a:pPr>
              <a:lnSpc>
                <a:spcPct val="120000"/>
              </a:lnSpc>
              <a:defRPr sz="1050" b="0">
                <a:solidFill>
                  <a:srgbClr val="94A3B8"/>
                </a:solidFill>
              </a:defRPr>
            </a:pPr>
            <a:r>
              <a:t>   - Enforces THD ≤ 0.50 and Composite Score ≥ 0.85.</a:t>
            </a:r>
          </a:p>
          <a:p>
            <a:pPr>
              <a:lnSpc>
                <a:spcPct val="120000"/>
              </a:lnSpc>
              <a:defRPr sz="1050" b="0">
                <a:solidFill>
                  <a:srgbClr val="94A3B8"/>
                </a:solidFill>
              </a:defRPr>
            </a:pPr>
            <a:r>
              <a:t>   - Provides CISOs, CTOs &amp; Risk teams complete fiduciary trust.</a:t>
            </a:r>
          </a:p>
          <a:p>
            <a:pPr>
              <a:lnSpc>
                <a:spcPct val="120000"/>
              </a:lnSpc>
              <a:defRPr sz="1050" b="0">
                <a:solidFill>
                  <a:srgbClr val="F8FAFC"/>
                </a:solidFill>
              </a:defRPr>
            </a:pPr>
          </a:p>
          <a:p>
            <a:pPr>
              <a:lnSpc>
                <a:spcPct val="120000"/>
              </a:lnSpc>
              <a:defRPr sz="1050" b="1">
                <a:solidFill>
                  <a:srgbClr val="F8FAFC"/>
                </a:solidFill>
              </a:defRPr>
            </a:pPr>
            <a:r>
              <a:t>2. Proven Global Customer Implementations:</a:t>
            </a:r>
          </a:p>
          <a:p>
            <a:pPr>
              <a:lnSpc>
                <a:spcPct val="120000"/>
              </a:lnSpc>
              <a:defRPr sz="1050" b="0">
                <a:solidFill>
                  <a:srgbClr val="94A3B8"/>
                </a:solidFill>
              </a:defRPr>
            </a:pPr>
            <a:r>
              <a:t>   - Menlo Security &amp; Solenis LLC: Gemini Enterprise swarms.</a:t>
            </a:r>
          </a:p>
          <a:p>
            <a:pPr>
              <a:lnSpc>
                <a:spcPct val="120000"/>
              </a:lnSpc>
              <a:defRPr sz="1050" b="0">
                <a:solidFill>
                  <a:srgbClr val="94A3B8"/>
                </a:solidFill>
              </a:defRPr>
            </a:pPr>
            <a:r>
              <a:t>   - HSBC Bank (EMEA): Enterprise Knowledge Graph architectures.</a:t>
            </a:r>
          </a:p>
          <a:p>
            <a:pPr>
              <a:lnSpc>
                <a:spcPct val="120000"/>
              </a:lnSpc>
              <a:defRPr sz="1050" b="0">
                <a:solidFill>
                  <a:srgbClr val="94A3B8"/>
                </a:solidFill>
              </a:defRPr>
            </a:pPr>
            <a:r>
              <a:t>   - Box, Veritas &amp; VaynerMedia: Strategic multi-agent advisory.</a:t>
            </a:r>
          </a:p>
          <a:p>
            <a:pPr>
              <a:lnSpc>
                <a:spcPct val="120000"/>
              </a:lnSpc>
              <a:defRPr sz="1050" b="0">
                <a:solidFill>
                  <a:srgbClr val="F8FAFC"/>
                </a:solidFill>
              </a:defRPr>
            </a:pPr>
          </a:p>
          <a:p>
            <a:pPr>
              <a:lnSpc>
                <a:spcPct val="120000"/>
              </a:lnSpc>
              <a:defRPr sz="1050" b="1">
                <a:solidFill>
                  <a:srgbClr val="F8FAFC"/>
                </a:solidFill>
              </a:defRPr>
            </a:pPr>
            <a:r>
              <a:t>3. Production Cloud Deployment:</a:t>
            </a:r>
          </a:p>
          <a:p>
            <a:pPr>
              <a:lnSpc>
                <a:spcPct val="120000"/>
              </a:lnSpc>
              <a:defRPr sz="1050" b="0">
                <a:solidFill>
                  <a:srgbClr val="94A3B8"/>
                </a:solidFill>
              </a:defRPr>
            </a:pPr>
            <a:r>
              <a:t>   - 1-Click Vertex AI Agent Engine (`adk deploy agent_engine`).</a:t>
            </a:r>
          </a:p>
          <a:p>
            <a:pPr>
              <a:lnSpc>
                <a:spcPct val="120000"/>
              </a:lnSpc>
              <a:defRPr sz="1050" b="0">
                <a:solidFill>
                  <a:srgbClr val="94A3B8"/>
                </a:solidFill>
              </a:defRPr>
            </a:pPr>
            <a:r>
              <a:t>   - Seamless integration with Gemini Enterprise &amp; Agent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